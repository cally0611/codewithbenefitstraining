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</p:sldMasterIdLst>
  <p:sldIdLst>
    <p:sldId id="256" r:id="rId2"/>
    <p:sldId id="258" r:id="rId3"/>
    <p:sldId id="257" r:id="rId4"/>
    <p:sldId id="260" r:id="rId5"/>
    <p:sldId id="259" r:id="rId6"/>
    <p:sldId id="261" r:id="rId7"/>
    <p:sldId id="262" r:id="rId8"/>
    <p:sldId id="264" r:id="rId9"/>
    <p:sldId id="266" r:id="rId10"/>
    <p:sldId id="268" r:id="rId11"/>
    <p:sldId id="269" r:id="rId12"/>
    <p:sldId id="270" r:id="rId13"/>
    <p:sldId id="271" r:id="rId14"/>
    <p:sldId id="26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60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779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171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4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03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653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388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54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4081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503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548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17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2" r:id="rId6"/>
    <p:sldLayoutId id="2147483783" r:id="rId7"/>
    <p:sldLayoutId id="2147483784" r:id="rId8"/>
    <p:sldLayoutId id="2147483785" r:id="rId9"/>
    <p:sldLayoutId id="2147483786" r:id="rId10"/>
    <p:sldLayoutId id="214748378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rchitecture/data-guide/technology-choices/understand-data-store-models" TargetMode="External"/><Relationship Id="rId2" Type="http://schemas.openxmlformats.org/officeDocument/2006/relationships/hyperlink" Target="https://www.scylladb.com/glossary/database-scalability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ongodb.com/resources/basics/scaling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icrosoft.com/en-us/sql-server/developer-tool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A875D55-4A80-43E9-38F6-27E366493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bstract red geometric pattern">
            <a:extLst>
              <a:ext uri="{FF2B5EF4-FFF2-40B4-BE49-F238E27FC236}">
                <a16:creationId xmlns:a16="http://schemas.microsoft.com/office/drawing/2014/main" id="{43B0D6BD-76C9-2A61-D3E1-94934E329D9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2799" b="2931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A5D839-E594-4F91-CFDE-9A15340827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482602"/>
            <a:ext cx="7588155" cy="2236264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CWB Circle 1</a:t>
            </a:r>
            <a:endParaRPr lang="en-MY" sz="5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5FF33-6308-EA94-D011-F7B956BD66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793937"/>
            <a:ext cx="7588155" cy="1414091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Prepared by Kalpana Kanthasamy</a:t>
            </a:r>
            <a:endParaRPr lang="en-MY" sz="22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6072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9C9992E-031E-0BD7-FA05-531071CE6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C8E913-0E4D-8F4A-FF50-665B913B9A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7842" r="11092"/>
          <a:stretch>
            <a:fillRect/>
          </a:stretch>
        </p:blipFill>
        <p:spPr>
          <a:xfrm>
            <a:off x="1857228" y="1617785"/>
            <a:ext cx="8618221" cy="422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970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89182-C50B-E730-12AB-AB1F6FA23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Ice Breaking Session</a:t>
            </a:r>
            <a:br>
              <a:rPr lang="en-US" dirty="0"/>
            </a:b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379A8-12A6-3626-25E5-3CF000286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MY" dirty="0"/>
              <a:t>One-Line Intro </a:t>
            </a:r>
            <a:r>
              <a:rPr lang="en-MY" b="1" dirty="0">
                <a:solidFill>
                  <a:srgbClr val="FF0000"/>
                </a:solidFill>
              </a:rPr>
              <a:t>( but please do not stop with one line….continue with more than that )</a:t>
            </a:r>
            <a:r>
              <a:rPr lang="en-MY" dirty="0"/>
              <a:t> </a:t>
            </a:r>
          </a:p>
          <a:p>
            <a:pPr lvl="1"/>
            <a:r>
              <a:rPr lang="en-MY" dirty="0"/>
              <a:t>If you shy…you can speak about these stuffs :- </a:t>
            </a:r>
          </a:p>
          <a:p>
            <a:pPr lvl="2"/>
            <a:r>
              <a:rPr lang="en-MY" dirty="0"/>
              <a:t>Tech Stack</a:t>
            </a:r>
          </a:p>
          <a:p>
            <a:pPr lvl="2"/>
            <a:r>
              <a:rPr lang="en-MY" dirty="0"/>
              <a:t>Dark mode 🌙 vs Light mode ☀️</a:t>
            </a:r>
          </a:p>
          <a:p>
            <a:pPr lvl="2"/>
            <a:r>
              <a:rPr lang="en-MY" dirty="0"/>
              <a:t>Tabs 🗂️ vs Windows 🪟</a:t>
            </a:r>
          </a:p>
          <a:p>
            <a:pPr lvl="2"/>
            <a:r>
              <a:rPr lang="en-MY" dirty="0"/>
              <a:t>Cloud ☁️ vs On-prem 🖥️</a:t>
            </a:r>
          </a:p>
          <a:p>
            <a:pPr lvl="2"/>
            <a:r>
              <a:rPr lang="en-MY" dirty="0"/>
              <a:t>Linux 🐧 vs Windows 🪟 vs macOS 🍎</a:t>
            </a:r>
          </a:p>
          <a:p>
            <a:pPr lvl="1"/>
            <a:r>
              <a:rPr lang="en-MY" dirty="0"/>
              <a:t>About ME</a:t>
            </a:r>
          </a:p>
        </p:txBody>
      </p:sp>
    </p:spTree>
    <p:extLst>
      <p:ext uri="{BB962C8B-B14F-4D97-AF65-F5344CB8AC3E}">
        <p14:creationId xmlns:p14="http://schemas.microsoft.com/office/powerpoint/2010/main" val="541297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284C-6B06-41FB-26C1-7613EC5DB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plan ( Open to discussion )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0A4F9-34A1-F45D-8211-E14463AD85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1.5 hours</a:t>
            </a:r>
          </a:p>
          <a:p>
            <a:pPr lvl="1"/>
            <a:r>
              <a:rPr lang="en-US" dirty="0"/>
              <a:t>45 minutes for technical demos, questions, applications and technical interview questions.</a:t>
            </a:r>
          </a:p>
          <a:p>
            <a:pPr lvl="1"/>
            <a:r>
              <a:rPr lang="en-US" dirty="0"/>
              <a:t>15 minutes ( mentee’s present ).</a:t>
            </a:r>
          </a:p>
          <a:p>
            <a:pPr lvl="1"/>
            <a:r>
              <a:rPr lang="en-US" dirty="0"/>
              <a:t>0.5 hours for non-technical </a:t>
            </a:r>
            <a:r>
              <a:rPr lang="en-US" dirty="0" err="1"/>
              <a:t>questions..working</a:t>
            </a:r>
            <a:r>
              <a:rPr lang="en-US" dirty="0"/>
              <a:t> ethics, teamwork, behavioral questions, imposter syndrome.</a:t>
            </a:r>
          </a:p>
          <a:p>
            <a:pPr lvl="1"/>
            <a:r>
              <a:rPr lang="en-US" dirty="0"/>
              <a:t>0.01 minute – Task for next meetup.</a:t>
            </a:r>
            <a:endParaRPr lang="en-MY" dirty="0"/>
          </a:p>
          <a:p>
            <a:pPr marL="233363" lvl="1" indent="-233363"/>
            <a:r>
              <a:rPr lang="en-MY" dirty="0"/>
              <a:t>For the rest…we have </a:t>
            </a:r>
            <a:r>
              <a:rPr lang="en-MY" dirty="0" err="1"/>
              <a:t>whatsapp</a:t>
            </a:r>
            <a:r>
              <a:rPr lang="en-MY" dirty="0"/>
              <a:t>..</a:t>
            </a:r>
          </a:p>
          <a:p>
            <a:pPr marL="233363" lvl="1" indent="-233363"/>
            <a:r>
              <a:rPr lang="en-MY" dirty="0"/>
              <a:t>I might not be able to answer your questions on the </a:t>
            </a:r>
            <a:r>
              <a:rPr lang="en-MY" dirty="0" err="1"/>
              <a:t>spot..cause</a:t>
            </a:r>
            <a:r>
              <a:rPr lang="en-MY" dirty="0"/>
              <a:t> I need to GOOGLE </a:t>
            </a:r>
            <a:r>
              <a:rPr lang="en-MY" dirty="0" err="1"/>
              <a:t>too..but</a:t>
            </a:r>
            <a:r>
              <a:rPr lang="en-MY" dirty="0"/>
              <a:t> I will and I should be able to explain to you in the next meeting.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239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CBF49-A4D7-A16A-4342-AF369B95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and No SQL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51B7C4-5CA2-326E-B9CC-DE1D99E9E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SQL or NoSQL – which of these you have experienced in…have you used it.</a:t>
            </a:r>
          </a:p>
          <a:p>
            <a:r>
              <a:rPr lang="en-US" dirty="0"/>
              <a:t>Cloud vs On-Premise…how many of you all have seen it and worked on it.</a:t>
            </a:r>
          </a:p>
          <a:p>
            <a:pPr lvl="1"/>
            <a:r>
              <a:rPr lang="en-US" dirty="0"/>
              <a:t>Azure Cloud</a:t>
            </a:r>
          </a:p>
          <a:p>
            <a:pPr lvl="1"/>
            <a:r>
              <a:rPr lang="en-US" dirty="0"/>
              <a:t>AWS</a:t>
            </a:r>
          </a:p>
          <a:p>
            <a:pPr lvl="1"/>
            <a:r>
              <a:rPr lang="en-US" dirty="0"/>
              <a:t>And others..</a:t>
            </a:r>
          </a:p>
          <a:p>
            <a:pPr marL="285750" lvl="1" indent="-285750"/>
            <a:r>
              <a:rPr lang="en-US" dirty="0"/>
              <a:t>NoSQL Databases ( MongoDB,  Azure Cosmos DB, DynamoDB, Cassandra, Redis )</a:t>
            </a:r>
          </a:p>
          <a:p>
            <a:pPr marL="285750" lvl="1" indent="-285750"/>
            <a:r>
              <a:rPr lang="en-US" dirty="0"/>
              <a:t>SQL Database ( MySQL, PostgreSQL, SQL Server, Oracle, Azure SQL Database )</a:t>
            </a:r>
          </a:p>
          <a:p>
            <a:pPr marL="233363" lvl="1" indent="-233363"/>
            <a:r>
              <a:rPr lang="en-US" dirty="0"/>
              <a:t>Which One Should I Learn First?</a:t>
            </a:r>
          </a:p>
          <a:p>
            <a:pPr marL="0" lvl="1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👉 SQL </a:t>
            </a:r>
            <a:r>
              <a:rPr lang="en-US" sz="2800" dirty="0"/>
              <a:t>first (easier to understand structure and relationships)</a:t>
            </a:r>
            <a:br>
              <a:rPr lang="en-US" sz="2800" b="1" dirty="0">
                <a:solidFill>
                  <a:srgbClr val="FF0000"/>
                </a:solidFill>
              </a:rPr>
            </a:br>
            <a:r>
              <a:rPr lang="en-US" sz="2800" b="1" dirty="0">
                <a:solidFill>
                  <a:srgbClr val="FF0000"/>
                </a:solidFill>
              </a:rPr>
              <a:t>👉 </a:t>
            </a:r>
            <a:r>
              <a:rPr lang="en-US" sz="2800" dirty="0"/>
              <a:t>Then</a:t>
            </a:r>
            <a:r>
              <a:rPr lang="en-US" sz="2800" b="1" dirty="0">
                <a:solidFill>
                  <a:srgbClr val="FF0000"/>
                </a:solidFill>
              </a:rPr>
              <a:t> NoSQL </a:t>
            </a:r>
            <a:r>
              <a:rPr lang="en-US" sz="2800" dirty="0"/>
              <a:t>(modern cloud apps)</a:t>
            </a:r>
          </a:p>
          <a:p>
            <a:pPr marL="0" indent="0">
              <a:buNone/>
            </a:pP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574053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BC618-A2CE-E585-845A-FA2549A0C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</a:t>
            </a:r>
            <a:endParaRPr lang="en-MY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2CD4F7C-5B7E-2C52-16AA-715BFB90F45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2969966"/>
              </p:ext>
            </p:extLst>
          </p:nvPr>
        </p:nvGraphicFramePr>
        <p:xfrm>
          <a:off x="685511" y="1254529"/>
          <a:ext cx="10653714" cy="3484878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551238">
                  <a:extLst>
                    <a:ext uri="{9D8B030D-6E8A-4147-A177-3AD203B41FA5}">
                      <a16:colId xmlns:a16="http://schemas.microsoft.com/office/drawing/2014/main" val="2812760198"/>
                    </a:ext>
                  </a:extLst>
                </a:gridCol>
                <a:gridCol w="3551238">
                  <a:extLst>
                    <a:ext uri="{9D8B030D-6E8A-4147-A177-3AD203B41FA5}">
                      <a16:colId xmlns:a16="http://schemas.microsoft.com/office/drawing/2014/main" val="1570082270"/>
                    </a:ext>
                  </a:extLst>
                </a:gridCol>
                <a:gridCol w="3551238">
                  <a:extLst>
                    <a:ext uri="{9D8B030D-6E8A-4147-A177-3AD203B41FA5}">
                      <a16:colId xmlns:a16="http://schemas.microsoft.com/office/drawing/2014/main" val="3284568010"/>
                    </a:ext>
                  </a:extLst>
                </a:gridCol>
              </a:tblGrid>
              <a:tr h="580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 dirty="0"/>
                        <a:t>Feature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 dirty="0"/>
                        <a:t>SQL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 dirty="0"/>
                        <a:t>NoSQL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6816805"/>
                  </a:ext>
                </a:extLst>
              </a:tr>
              <a:tr h="580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/>
                        <a:t>Structure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 dirty="0"/>
                        <a:t>Tables (rows/columns)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 dirty="0"/>
                        <a:t>Documents, Key-Value, Graph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2082959"/>
                  </a:ext>
                </a:extLst>
              </a:tr>
              <a:tr h="580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/>
                        <a:t>Schema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/>
                        <a:t>Fixed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/>
                        <a:t>Flexible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71095376"/>
                  </a:ext>
                </a:extLst>
              </a:tr>
              <a:tr h="580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 dirty="0"/>
                        <a:t>Scaling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 dirty="0"/>
                        <a:t>Vertical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 dirty="0"/>
                        <a:t>Horizontal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6569928"/>
                  </a:ext>
                </a:extLst>
              </a:tr>
              <a:tr h="580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 dirty="0"/>
                        <a:t>Transactions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/>
                        <a:t>Strong (ACID)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/>
                        <a:t>Eventual consistency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752240"/>
                  </a:ext>
                </a:extLst>
              </a:tr>
              <a:tr h="5808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/>
                        <a:t>Use Case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/>
                        <a:t>Banking, ERP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800" dirty="0"/>
                        <a:t>Big data, real-time apps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7667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FB00966-13C8-9FDF-6C34-09343630AC8E}"/>
              </a:ext>
            </a:extLst>
          </p:cNvPr>
          <p:cNvSpPr txBox="1"/>
          <p:nvPr/>
        </p:nvSpPr>
        <p:spPr>
          <a:xfrm>
            <a:off x="511312" y="4998720"/>
            <a:ext cx="1085624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NoSQL is named like this because it basically follows the opposite approach of SQL databases.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schemas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No relations</a:t>
            </a:r>
          </a:p>
          <a:p>
            <a:r>
              <a:rPr lang="en-US" sz="1200" b="1" dirty="0"/>
              <a:t>That's how you could summarize it.</a:t>
            </a:r>
          </a:p>
          <a:p>
            <a:r>
              <a:rPr lang="en-US" sz="1200" dirty="0"/>
              <a:t>Instead, you structure data in collections (= tables in the SQL world). Records are now called documents.</a:t>
            </a:r>
          </a:p>
          <a:p>
            <a:r>
              <a:rPr lang="en-US" sz="1200" dirty="0"/>
              <a:t>But it's not just about the naming, there is a core difference: You can put data of different structure into the same collection. You couldn't do that in the SQL world - each table had a clear schema there</a:t>
            </a:r>
          </a:p>
        </p:txBody>
      </p:sp>
    </p:spTree>
    <p:extLst>
      <p:ext uri="{BB962C8B-B14F-4D97-AF65-F5344CB8AC3E}">
        <p14:creationId xmlns:p14="http://schemas.microsoft.com/office/powerpoint/2010/main" val="3202621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599C9-B24D-407B-236F-63A8FC46F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  <a:endParaRPr lang="en-MY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8CD581-F59D-FCF8-816D-7374BA8DA5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4354137"/>
              </p:ext>
            </p:extLst>
          </p:nvPr>
        </p:nvGraphicFramePr>
        <p:xfrm>
          <a:off x="612775" y="1716088"/>
          <a:ext cx="10653712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6856">
                  <a:extLst>
                    <a:ext uri="{9D8B030D-6E8A-4147-A177-3AD203B41FA5}">
                      <a16:colId xmlns:a16="http://schemas.microsoft.com/office/drawing/2014/main" val="1710345796"/>
                    </a:ext>
                  </a:extLst>
                </a:gridCol>
                <a:gridCol w="5326856">
                  <a:extLst>
                    <a:ext uri="{9D8B030D-6E8A-4147-A177-3AD203B41FA5}">
                      <a16:colId xmlns:a16="http://schemas.microsoft.com/office/drawing/2014/main" val="1290884075"/>
                    </a:ext>
                  </a:extLst>
                </a:gridCol>
              </a:tblGrid>
              <a:tr h="336232">
                <a:tc>
                  <a:txBody>
                    <a:bodyPr/>
                    <a:lstStyle/>
                    <a:p>
                      <a:r>
                        <a:rPr lang="en-US" dirty="0"/>
                        <a:t>SQL</a:t>
                      </a:r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SQL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9042901"/>
                  </a:ext>
                </a:extLst>
              </a:tr>
              <a:tr h="2453640"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235316"/>
                  </a:ext>
                </a:extLst>
              </a:tr>
            </a:tbl>
          </a:graphicData>
        </a:graphic>
      </p:graphicFrame>
      <p:pic>
        <p:nvPicPr>
          <p:cNvPr id="2050" name="Picture 2" descr="an e-commerce relational database housing customer, product, and order information">
            <a:extLst>
              <a:ext uri="{FF2B5EF4-FFF2-40B4-BE49-F238E27FC236}">
                <a16:creationId xmlns:a16="http://schemas.microsoft.com/office/drawing/2014/main" id="{AD4D9767-301B-D22A-CE18-0E7F34D7D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35" y="2186788"/>
            <a:ext cx="4990465" cy="421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ypes of NoSQL Databases - GeeksforGeeks">
            <a:extLst>
              <a:ext uri="{FF2B5EF4-FFF2-40B4-BE49-F238E27FC236}">
                <a16:creationId xmlns:a16="http://schemas.microsoft.com/office/drawing/2014/main" id="{9F4F6231-D318-E380-6413-B53AEDEBFD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73"/>
          <a:stretch>
            <a:fillRect/>
          </a:stretch>
        </p:blipFill>
        <p:spPr bwMode="auto">
          <a:xfrm>
            <a:off x="5939437" y="2186787"/>
            <a:ext cx="4990465" cy="4211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3385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78F4B-206E-95FE-C519-CB6E2DF1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  <a:endParaRPr lang="en-MY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F2FCA6-301B-A6F9-3342-03B41EFB9D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01983381"/>
              </p:ext>
            </p:extLst>
          </p:nvPr>
        </p:nvGraphicFramePr>
        <p:xfrm>
          <a:off x="612775" y="1716088"/>
          <a:ext cx="1065371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3712">
                  <a:extLst>
                    <a:ext uri="{9D8B030D-6E8A-4147-A177-3AD203B41FA5}">
                      <a16:colId xmlns:a16="http://schemas.microsoft.com/office/drawing/2014/main" val="398391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- SQL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73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Document Database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462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How do we store more than one.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402003"/>
                  </a:ext>
                </a:extLst>
              </a:tr>
            </a:tbl>
          </a:graphicData>
        </a:graphic>
      </p:graphicFrame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6CB0206-8B6B-1B14-0F05-DD05738DC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828608"/>
            <a:ext cx="7453006" cy="3299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178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0763C-8451-A910-5728-EBB0A7599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299A3-5EBA-FC90-58C2-87CCA7659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  <a:endParaRPr lang="en-MY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F55A94C-4442-9B72-0FB2-6E8AD5281A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5822440"/>
              </p:ext>
            </p:extLst>
          </p:nvPr>
        </p:nvGraphicFramePr>
        <p:xfrm>
          <a:off x="612775" y="1716088"/>
          <a:ext cx="1065371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3712">
                  <a:extLst>
                    <a:ext uri="{9D8B030D-6E8A-4147-A177-3AD203B41FA5}">
                      <a16:colId xmlns:a16="http://schemas.microsoft.com/office/drawing/2014/main" val="398391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- SQL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73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Key-value Database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462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How do we store more than one.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402003"/>
                  </a:ext>
                </a:extLst>
              </a:tr>
            </a:tbl>
          </a:graphicData>
        </a:graphic>
      </p:graphicFrame>
      <p:pic>
        <p:nvPicPr>
          <p:cNvPr id="5" name="Picture 4" descr="A black background with yellow text&#10;&#10;AI-generated content may be incorrect.">
            <a:extLst>
              <a:ext uri="{FF2B5EF4-FFF2-40B4-BE49-F238E27FC236}">
                <a16:creationId xmlns:a16="http://schemas.microsoft.com/office/drawing/2014/main" id="{0EC9FF63-E52E-D463-B7DE-B0EC3ED76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89" y="2828608"/>
            <a:ext cx="9068586" cy="1417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787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D7556-DFF4-DC3F-98C9-6A0A304D7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7758B-9292-D953-EF73-673AF261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  <a:endParaRPr lang="en-MY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288141-0430-7B8E-B542-286EE94E85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86658844"/>
              </p:ext>
            </p:extLst>
          </p:nvPr>
        </p:nvGraphicFramePr>
        <p:xfrm>
          <a:off x="612775" y="1716088"/>
          <a:ext cx="1065371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3712">
                  <a:extLst>
                    <a:ext uri="{9D8B030D-6E8A-4147-A177-3AD203B41FA5}">
                      <a16:colId xmlns:a16="http://schemas.microsoft.com/office/drawing/2014/main" val="398391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- SQL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73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Wide-column stores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462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How do we store more than one.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402003"/>
                  </a:ext>
                </a:extLst>
              </a:tr>
            </a:tbl>
          </a:graphicData>
        </a:graphic>
      </p:graphicFrame>
      <p:pic>
        <p:nvPicPr>
          <p:cNvPr id="6" name="Picture 5" descr="A close-up of a contact us&#10;&#10;AI-generated content may be incorrect.">
            <a:extLst>
              <a:ext uri="{FF2B5EF4-FFF2-40B4-BE49-F238E27FC236}">
                <a16:creationId xmlns:a16="http://schemas.microsoft.com/office/drawing/2014/main" id="{370D6CA2-C0BA-A085-71B2-8CC2191D2D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661" y="2974231"/>
            <a:ext cx="9129551" cy="251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816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019DF-15E2-05C3-035C-659EF2176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90B48-07A4-B8C3-DA75-08687B791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</a:t>
            </a:r>
            <a:endParaRPr lang="en-MY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4D083D-2063-8BF2-A5F7-E424D15C9C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0816306"/>
              </p:ext>
            </p:extLst>
          </p:nvPr>
        </p:nvGraphicFramePr>
        <p:xfrm>
          <a:off x="612775" y="1716088"/>
          <a:ext cx="1065371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53712">
                  <a:extLst>
                    <a:ext uri="{9D8B030D-6E8A-4147-A177-3AD203B41FA5}">
                      <a16:colId xmlns:a16="http://schemas.microsoft.com/office/drawing/2014/main" val="398391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 - SQL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6737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MY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Graph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462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How do we store more than one.</a:t>
                      </a:r>
                      <a:endParaRPr lang="en-MY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402003"/>
                  </a:ext>
                </a:extLst>
              </a:tr>
            </a:tbl>
          </a:graphicData>
        </a:graphic>
      </p:graphicFrame>
      <p:pic>
        <p:nvPicPr>
          <p:cNvPr id="7" name="Picture 6" descr="A diagram of a user network&#10;&#10;AI-generated content may be incorrect.">
            <a:extLst>
              <a:ext uri="{FF2B5EF4-FFF2-40B4-BE49-F238E27FC236}">
                <a16:creationId xmlns:a16="http://schemas.microsoft.com/office/drawing/2014/main" id="{D903F921-AE35-D3F3-2339-9F3D8B765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160" y="1230579"/>
            <a:ext cx="6900813" cy="3900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891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7" name="Rectangle 7176">
            <a:extLst>
              <a:ext uri="{FF2B5EF4-FFF2-40B4-BE49-F238E27FC236}">
                <a16:creationId xmlns:a16="http://schemas.microsoft.com/office/drawing/2014/main" id="{43867147-1C83-BF71-39B0-B590EE7F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4DC01-B880-F68E-E91E-DABB8F953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48640"/>
            <a:ext cx="10872216" cy="1133856"/>
          </a:xfrm>
        </p:spPr>
        <p:txBody>
          <a:bodyPr anchor="t">
            <a:normAutofit/>
          </a:bodyPr>
          <a:lstStyle/>
          <a:p>
            <a:r>
              <a:rPr lang="en-US" dirty="0"/>
              <a:t>Scaling</a:t>
            </a:r>
            <a:endParaRPr lang="en-MY" dirty="0"/>
          </a:p>
        </p:txBody>
      </p:sp>
      <p:pic>
        <p:nvPicPr>
          <p:cNvPr id="7172" name="Picture 4" descr="Horizontal scaling adds more servers, vertical scaling more power to a single server.">
            <a:extLst>
              <a:ext uri="{FF2B5EF4-FFF2-40B4-BE49-F238E27FC236}">
                <a16:creationId xmlns:a16="http://schemas.microsoft.com/office/drawing/2014/main" id="{FD8CAF08-C636-B902-EA93-BB076A7EF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1520" y="1792223"/>
            <a:ext cx="6113926" cy="2797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97F80-E25D-60DD-CD8A-CE96DC385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176" y="1792224"/>
            <a:ext cx="4307527" cy="4517136"/>
          </a:xfrm>
        </p:spPr>
        <p:txBody>
          <a:bodyPr anchor="t">
            <a:normAutofit/>
          </a:bodyPr>
          <a:lstStyle/>
          <a:p>
            <a:r>
              <a:rPr lang="en-US" sz="1800" b="1"/>
              <a:t>Vertical Scaling</a:t>
            </a:r>
            <a:r>
              <a:rPr lang="en-US" sz="1800"/>
              <a:t> means that we simply increase the power of the database server - e.g. by upgrading its CPU.</a:t>
            </a:r>
          </a:p>
          <a:p>
            <a:r>
              <a:rPr lang="en-US" sz="1800" b="1"/>
              <a:t>Horizontal Scaling</a:t>
            </a:r>
            <a:r>
              <a:rPr lang="en-US" sz="1800"/>
              <a:t> on the other hand means that more servers are added and the database is distributed across them. Hence you still work with one database but multiple servers that host it.</a:t>
            </a:r>
          </a:p>
          <a:p>
            <a:endParaRPr lang="en-MY" sz="1800"/>
          </a:p>
        </p:txBody>
      </p:sp>
    </p:spTree>
    <p:extLst>
      <p:ext uri="{BB962C8B-B14F-4D97-AF65-F5344CB8AC3E}">
        <p14:creationId xmlns:p14="http://schemas.microsoft.com/office/powerpoint/2010/main" val="456200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CA099-C248-93DE-27AE-404B851E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7D24C-BDA4-1089-E54E-D42F58542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Add More Servers (Scale-Out):</a:t>
            </a:r>
            <a:r>
              <a:rPr lang="en-US" dirty="0"/>
              <a:t> The core of NoSQL; add inexpensive machines to the cluster to increase capacity.</a:t>
            </a:r>
          </a:p>
          <a:p>
            <a:r>
              <a:rPr lang="en-US" b="1" dirty="0"/>
              <a:t>Data Modeling:</a:t>
            </a:r>
            <a:r>
              <a:rPr lang="en-US" dirty="0"/>
              <a:t> Store related data together in a single document (denormalization) to avoid complex joins, optimizing for quick key-based lookups.</a:t>
            </a:r>
          </a:p>
          <a:p>
            <a:r>
              <a:rPr lang="en-US" b="1" dirty="0"/>
              <a:t>Caching:</a:t>
            </a:r>
            <a:r>
              <a:rPr lang="en-US" dirty="0"/>
              <a:t> Use in-memory caches (like Redis) to reduce database load for frequently accessed data.</a:t>
            </a:r>
          </a:p>
          <a:p>
            <a:r>
              <a:rPr lang="en-US" b="1" dirty="0"/>
              <a:t>Cloud-Native Auto-Scaling:</a:t>
            </a:r>
            <a:r>
              <a:rPr lang="en-US" dirty="0"/>
              <a:t> Services like </a:t>
            </a:r>
            <a:r>
              <a:rPr lang="en-US" dirty="0">
                <a:hlinkClick r:id="rId2"/>
              </a:rPr>
              <a:t>AWS DynamoDB</a:t>
            </a:r>
            <a:r>
              <a:rPr lang="en-US" dirty="0"/>
              <a:t>, </a:t>
            </a:r>
            <a:r>
              <a:rPr lang="en-US" dirty="0">
                <a:hlinkClick r:id="rId3"/>
              </a:rPr>
              <a:t>Azure Cosmos DB</a:t>
            </a:r>
            <a:r>
              <a:rPr lang="en-US" dirty="0"/>
              <a:t>, and </a:t>
            </a:r>
            <a:r>
              <a:rPr lang="en-US" dirty="0">
                <a:hlinkClick r:id="rId4"/>
              </a:rPr>
              <a:t>MongoDB Atlas</a:t>
            </a:r>
            <a:r>
              <a:rPr lang="en-US" dirty="0"/>
              <a:t> offer automated resource adjustments. </a:t>
            </a:r>
          </a:p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829289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CF902-27BD-198B-B5BB-281A07ED2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8A501-FC0C-0140-497F-CD118BAB0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CWB Circle</a:t>
            </a:r>
          </a:p>
          <a:p>
            <a:pPr lvl="1"/>
            <a:r>
              <a:rPr lang="en-US" dirty="0"/>
              <a:t>I will be using Microsoft SQL Server  - Developer Edition</a:t>
            </a:r>
          </a:p>
          <a:p>
            <a:pPr marL="228600" lvl="1" indent="0">
              <a:buNone/>
            </a:pPr>
            <a:r>
              <a:rPr lang="en-US" dirty="0"/>
              <a:t>	</a:t>
            </a:r>
            <a:r>
              <a:rPr lang="en-US" dirty="0">
                <a:hlinkClick r:id="rId2"/>
              </a:rPr>
              <a:t>https://www.microsoft.com/en-us/sql-server/developer-tools</a:t>
            </a:r>
            <a:endParaRPr lang="en-US" dirty="0"/>
          </a:p>
          <a:p>
            <a:pPr lvl="1"/>
            <a:r>
              <a:rPr lang="en-US" dirty="0"/>
              <a:t>Mongo DB or Azure Cosmos DB</a:t>
            </a:r>
          </a:p>
          <a:p>
            <a:pPr lvl="1"/>
            <a:r>
              <a:rPr lang="en-US" dirty="0"/>
              <a:t>Questions for next meetup</a:t>
            </a:r>
          </a:p>
          <a:p>
            <a:pPr lvl="2"/>
            <a:r>
              <a:rPr lang="en-US" dirty="0"/>
              <a:t>Will be sent through </a:t>
            </a:r>
            <a:r>
              <a:rPr lang="en-US" dirty="0" err="1"/>
              <a:t>whatsapp</a:t>
            </a:r>
            <a:r>
              <a:rPr lang="en-US" dirty="0"/>
              <a:t> </a:t>
            </a:r>
          </a:p>
          <a:p>
            <a:pPr lvl="3"/>
            <a:r>
              <a:rPr lang="en-US" dirty="0"/>
              <a:t>Write a simple T-SQL on SQL Server.</a:t>
            </a:r>
          </a:p>
          <a:p>
            <a:pPr lvl="3"/>
            <a:r>
              <a:rPr lang="en-US" dirty="0"/>
              <a:t>Define types of relationships with examples.</a:t>
            </a:r>
          </a:p>
          <a:p>
            <a:pPr lvl="3"/>
            <a:r>
              <a:rPr lang="en-US" dirty="0" err="1"/>
              <a:t>Whats</a:t>
            </a:r>
            <a:r>
              <a:rPr lang="en-US" dirty="0"/>
              <a:t> DDL and DML?</a:t>
            </a:r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15558716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663</Words>
  <Application>Microsoft Office PowerPoint</Application>
  <PresentationFormat>Widescreen</PresentationFormat>
  <Paragraphs>89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Neue Haas Grotesk Text Pro</vt:lpstr>
      <vt:lpstr>VanillaVTI</vt:lpstr>
      <vt:lpstr>CWB Circle 1</vt:lpstr>
      <vt:lpstr>PowerPoint Presentation</vt:lpstr>
      <vt:lpstr>Ice Breaking Session </vt:lpstr>
      <vt:lpstr>My plan ( Open to discussion )</vt:lpstr>
      <vt:lpstr>SQL and No SQL</vt:lpstr>
      <vt:lpstr>Differences </vt:lpstr>
      <vt:lpstr>Structure</vt:lpstr>
      <vt:lpstr>Structure</vt:lpstr>
      <vt:lpstr>Structure</vt:lpstr>
      <vt:lpstr>Structure</vt:lpstr>
      <vt:lpstr>Structure</vt:lpstr>
      <vt:lpstr>Scaling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Kalpana Kanthasamy</dc:creator>
  <cp:lastModifiedBy>Kalpana Kanthasamy</cp:lastModifiedBy>
  <cp:revision>19</cp:revision>
  <dcterms:created xsi:type="dcterms:W3CDTF">2025-12-16T11:28:05Z</dcterms:created>
  <dcterms:modified xsi:type="dcterms:W3CDTF">2025-12-16T14:34:56Z</dcterms:modified>
</cp:coreProperties>
</file>